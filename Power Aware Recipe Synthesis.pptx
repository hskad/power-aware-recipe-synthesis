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Few-Shot Improvement vs Samples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k=1</c:v>
                </c:pt>
                <c:pt idx="1">
                  <c:v>k=3</c:v>
                </c:pt>
                <c:pt idx="2">
                  <c:v>k=5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13</c:v>
                </c:pt>
                <c:pt idx="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A-4405-AE01-CF91AF1347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SA Convergence — fpu_orig (Predicted Power)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Power Proxy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25</c:v>
                </c:pt>
                <c:pt idx="1">
                  <c:v>23.4</c:v>
                </c:pt>
                <c:pt idx="2">
                  <c:v>22.1</c:v>
                </c:pt>
                <c:pt idx="3">
                  <c:v>21</c:v>
                </c:pt>
                <c:pt idx="4">
                  <c:v>20.2</c:v>
                </c:pt>
                <c:pt idx="5">
                  <c:v>19.5</c:v>
                </c:pt>
                <c:pt idx="6">
                  <c:v>19</c:v>
                </c:pt>
                <c:pt idx="7">
                  <c:v>18.5</c:v>
                </c:pt>
                <c:pt idx="8">
                  <c:v>17.8</c:v>
                </c:pt>
                <c:pt idx="9">
                  <c:v>17.5</c:v>
                </c:pt>
                <c:pt idx="10">
                  <c:v>17</c:v>
                </c:pt>
                <c:pt idx="11">
                  <c:v>16.8</c:v>
                </c:pt>
                <c:pt idx="12">
                  <c:v>16.5</c:v>
                </c:pt>
                <c:pt idx="13">
                  <c:v>16.3</c:v>
                </c:pt>
                <c:pt idx="14">
                  <c:v>16.2</c:v>
                </c:pt>
                <c:pt idx="15">
                  <c:v>16.100000000000001</c:v>
                </c:pt>
                <c:pt idx="16">
                  <c:v>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50E-458A-8771-1FC0B1F8C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Search Iteration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Predicted Power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Post-Layout Power (mW)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Baseline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max_orig</c:v>
                </c:pt>
                <c:pt idx="1">
                  <c:v>ethernet_orig</c:v>
                </c:pt>
                <c:pt idx="2">
                  <c:v>fpu_orig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2.83</c:v>
                </c:pt>
                <c:pt idx="1">
                  <c:v>69.11</c:v>
                </c:pt>
                <c:pt idx="2">
                  <c:v>20.420000000000002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2B-490F-9644-AAF156C515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 Recipe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max_orig</c:v>
                </c:pt>
                <c:pt idx="1">
                  <c:v>ethernet_orig</c:v>
                </c:pt>
                <c:pt idx="2">
                  <c:v>fpu_orig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2.29</c:v>
                </c:pt>
                <c:pt idx="1">
                  <c:v>51.14</c:v>
                </c:pt>
                <c:pt idx="2">
                  <c:v>16.239999999999998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2B-490F-9644-AAF156C515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2163000684697017E-2"/>
          <c:y val="6.6289838770153736E-2"/>
          <c:w val="0.93783699931530295"/>
          <c:h val="0.84579990001249838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00000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Baseline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ac97_ctrl</c:v>
                </c:pt>
                <c:pt idx="1">
                  <c:v>aes_orig</c:v>
                </c:pt>
                <c:pt idx="2">
                  <c:v>aes_secworks</c:v>
                </c:pt>
                <c:pt idx="3">
                  <c:v>aes_xcrypt</c:v>
                </c:pt>
                <c:pt idx="4">
                  <c:v>des3_area</c:v>
                </c:pt>
                <c:pt idx="5">
                  <c:v>ethernet</c:v>
                </c:pt>
                <c:pt idx="6">
                  <c:v>fpu_orig</c:v>
                </c:pt>
                <c:pt idx="7">
                  <c:v>max_orig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11577.09</c:v>
                </c:pt>
                <c:pt idx="1">
                  <c:v>19242.5</c:v>
                </c:pt>
                <c:pt idx="2">
                  <c:v>21912.39</c:v>
                </c:pt>
                <c:pt idx="3">
                  <c:v>20862.09</c:v>
                </c:pt>
                <c:pt idx="4">
                  <c:v>3623.34</c:v>
                </c:pt>
                <c:pt idx="5">
                  <c:v>69110.52</c:v>
                </c:pt>
                <c:pt idx="6">
                  <c:v>20420.54</c:v>
                </c:pt>
                <c:pt idx="7">
                  <c:v>2831.7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4-4D45-8B8A-BFE28BB83A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 Recipe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ac97_ctrl</c:v>
                </c:pt>
                <c:pt idx="1">
                  <c:v>aes_orig</c:v>
                </c:pt>
                <c:pt idx="2">
                  <c:v>aes_secworks</c:v>
                </c:pt>
                <c:pt idx="3">
                  <c:v>aes_xcrypt</c:v>
                </c:pt>
                <c:pt idx="4">
                  <c:v>des3_area</c:v>
                </c:pt>
                <c:pt idx="5">
                  <c:v>ethernet</c:v>
                </c:pt>
                <c:pt idx="6">
                  <c:v>fpu_orig</c:v>
                </c:pt>
                <c:pt idx="7">
                  <c:v>max_orig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9608.0300000000007</c:v>
                </c:pt>
                <c:pt idx="1">
                  <c:v>16355.75</c:v>
                </c:pt>
                <c:pt idx="2">
                  <c:v>17529.64</c:v>
                </c:pt>
                <c:pt idx="3">
                  <c:v>22322.34</c:v>
                </c:pt>
                <c:pt idx="4">
                  <c:v>3333.16</c:v>
                </c:pt>
                <c:pt idx="5">
                  <c:v>51141.78</c:v>
                </c:pt>
                <c:pt idx="6">
                  <c:v>16244.14</c:v>
                </c:pt>
                <c:pt idx="7">
                  <c:v>2286.13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24-4D45-8B8A-BFE28BB83A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ac97_ctrl</c:v>
                </c:pt>
                <c:pt idx="1">
                  <c:v>aes_orig</c:v>
                </c:pt>
                <c:pt idx="2">
                  <c:v>aes_secworks</c:v>
                </c:pt>
                <c:pt idx="3">
                  <c:v>aes_xcrypt</c:v>
                </c:pt>
                <c:pt idx="4">
                  <c:v>des3_area</c:v>
                </c:pt>
                <c:pt idx="5">
                  <c:v>ethernet</c:v>
                </c:pt>
                <c:pt idx="6">
                  <c:v>fpu_orig</c:v>
                </c:pt>
                <c:pt idx="7">
                  <c:v>max_orig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17.46</c:v>
                </c:pt>
                <c:pt idx="1">
                  <c:v>15.35</c:v>
                </c:pt>
                <c:pt idx="2">
                  <c:v>19.940000000000001</c:v>
                </c:pt>
                <c:pt idx="3">
                  <c:v>-7</c:v>
                </c:pt>
                <c:pt idx="4">
                  <c:v>8.0399999999999991</c:v>
                </c:pt>
                <c:pt idx="5">
                  <c:v>26.13</c:v>
                </c:pt>
                <c:pt idx="6">
                  <c:v>20.45</c:v>
                </c:pt>
                <c:pt idx="7">
                  <c:v>19.27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A9-4734-A758-D816430C96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94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CS533 · Machine Learning for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Power-Aware Recipe Synthesis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ML-Guided Simulated Annealing for Automated Logic Synthesis Optimization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83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Agarwal (230101123)   ·   Aditya Shukla (230101115)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Maheshwari (230101116)   ·   Girish M. Bhajantri (230101040)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3708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4300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Explosion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recipe space grows exponentially with sequence length. Exhaustive search over 20-command recipes from even 4 commands yields 4²⁰ ≈ 10¹² combinations — far beyond compute budget.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1430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170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Bottleneck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recipe requires a full ABC synthesis + OpenROAD place-and-route flow for accurate post-layout power measurement — too expensive for inner-loop search.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480" y="39846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unoptimized AIG, find a sequence of synthesis commands that minimizes post-layout power within a practical time budget.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41732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70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AIG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152704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097280"/>
            <a:ext cx="14173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170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691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9-dim structural vector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52704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097280"/>
            <a:ext cx="14173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1170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Power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691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surrogate scorer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83480" y="152704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097280"/>
            <a:ext cx="14173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170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691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80-step annealing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52704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141732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170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synthesis run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19072" y="2377440"/>
            <a:ext cx="566928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423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SA Search Loop — ML predictor scores recipes without running synthesis; only best candidate gets full ABC validation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918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93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— Train Power Predictor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3703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benchmark designs ×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recipes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OpenROAD post-layout power as ground truth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structural AIG features + recipe embedding as inputs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 by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29184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2918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2900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— SA Recipe Search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0328" y="3703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random 20-command recipe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Mutate: replace (50%) or swap (50%)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via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predictor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/reject via Metropolis criterion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top candidate with real ABC + OpenROAD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 &amp; 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6596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509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264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Designs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6596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9509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42032" y="14264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Recipes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18304" y="914400"/>
            <a:ext cx="196596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8304" y="9509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18304" y="14264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Instances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94576" y="914400"/>
            <a:ext cx="196596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94576" y="9509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9-dim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94576" y="14264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05740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35000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289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05740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05740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235000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289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Synthesis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2468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9-dim structural AIG vector (nodes, edges, PIs/POs, latches, AND nodes, depth, fan-in/out)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38328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67588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675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615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Power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3840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OpenROAD flow: placement → routing → static power analysis →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post-layout value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383280"/>
            <a:ext cx="4069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38328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367588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675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59429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74903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recipe ID + power → training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413617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recipe to AIG </a:t>
            </a:r>
            <a:r>
              <a:rPr lang="en-US" sz="10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tech-mapped netlist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Berkeley ABC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Predictor — Neural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1945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Features (9-dim)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219456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270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Layer · ReLU · Dropout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1109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219456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396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Layer · ReLU · Dropout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219456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7523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 Concatenate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21945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649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(144)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ReLU · 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21945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977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Power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734056"/>
            <a:ext cx="10058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7340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508760" y="2734056"/>
            <a:ext cx="11430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8760" y="273405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(16-dim)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3118104"/>
            <a:ext cx="3657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1371601"/>
            <a:ext cx="5760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17520" y="1371601"/>
            <a:ext cx="6400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417321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18688" y="17830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0288" y="178308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61888" y="17830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recipe_emb_dim: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33488" y="178308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18688" y="21031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0288" y="210312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21031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33488" y="2103121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lr=0.001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2834641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017520" y="2834641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880361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18688" y="3246121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design 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  |  Target transform: log1p option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normalization on all 9 AIG features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— Recipe 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0789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3898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20-command recipe from AIG-safe pool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6657" y="1589298"/>
            <a:ext cx="54864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139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replace random cmd · 50% swap two positions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7" y="2339106"/>
            <a:ext cx="54864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7860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78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7" y="3088914"/>
            <a:ext cx="54864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28416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328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accept if lower. Otherwise P = exp(−ΔE/T)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7" y="3838722"/>
            <a:ext cx="54864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78224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0782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389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temperature decay over 80 steps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914400"/>
            <a:ext cx="4480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9875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AIG-Safe Command Pool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1389888"/>
            <a:ext cx="1965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13898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 (b)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1389888"/>
            <a:ext cx="1965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13898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 (rw)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1755648"/>
            <a:ext cx="1965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17556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 (rf)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1755648"/>
            <a:ext cx="19659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75120" y="17556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  (rs)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26280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avoid AIG state corruption from commands like choice/fraig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34840" y="2743200"/>
            <a:ext cx="4480560" cy="1234440"/>
          </a:xfrm>
          <a:prstGeom prst="rect">
            <a:avLst/>
          </a:prstGeom>
          <a:solidFill>
            <a:srgbClr val="EFF8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0" y="2816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3182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accept if  E_new ≤ E_current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0" y="3493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 P(accept) = exp( −ΔE / T 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34840" y="4114800"/>
            <a:ext cx="4480560" cy="91440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0" y="41879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41879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41879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Length  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6680" y="41879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commands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 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7784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2084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Schedule  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2668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Predictor — Performance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17977" y="914400"/>
            <a:ext cx="26060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7977" y="9418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7977" y="13167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 mW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69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76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 (LODO Cross-Validation)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Leave-One-Design-Out: model trained on N-1 designs, tested on held-out design.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374904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(k)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Chart 0"/>
          <p:cNvGraphicFramePr/>
          <p:nvPr/>
        </p:nvGraphicFramePr>
        <p:xfrm>
          <a:off x="4663440" y="210312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Search — Convergence &amp; Behaviour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590478555"/>
              </p:ext>
            </p:extLst>
          </p:nvPr>
        </p:nvGraphicFramePr>
        <p:xfrm>
          <a:off x="457200" y="9144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14400"/>
            <a:ext cx="29260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0" y="91440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9875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13898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improvement in early iterations (high-T exploration phase)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19385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plateau after ~50 steps — search locks onto local minimum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24871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explores non-intuitive command orderings that manual scripts miss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3035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steps sufficient for strong relative gains; more steps may help further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35844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SA vs. Best ABC Baseline (3 Validation Designs)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45696654"/>
              </p:ext>
            </p:extLst>
          </p:nvPr>
        </p:nvGraphicFramePr>
        <p:xfrm>
          <a:off x="45720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914400"/>
          <a:ext cx="2560320" cy="2057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Power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max_orig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mW (syn2)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 mW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ethernet_orig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69.11 mW (syn3)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51.14 mW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fpu_orig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20.42 mW (syn2)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16.24 mW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309360" y="3108960"/>
            <a:ext cx="2560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400800" y="31363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132320" y="31363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ethernet_orig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132320" y="3337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single-design gain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309360" y="3749040"/>
            <a:ext cx="2560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6"/>
          <p:cNvSpPr/>
          <p:nvPr/>
        </p:nvSpPr>
        <p:spPr>
          <a:xfrm>
            <a:off x="6400800" y="37764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132320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max_orig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32320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(still beats all 3)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309360" y="4389120"/>
            <a:ext cx="25603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0" y="44165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32320" y="4416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fpu_orig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132320" y="4617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improvement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3591292652"/>
              </p:ext>
            </p:extLst>
          </p:nvPr>
        </p:nvGraphicFramePr>
        <p:xfrm>
          <a:off x="457200" y="91440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Results — 8 Benchmark Designs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336168948"/>
              </p:ext>
            </p:extLst>
          </p:nvPr>
        </p:nvGraphicFramePr>
        <p:xfrm>
          <a:off x="457200" y="91440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1413806" y="4343400"/>
            <a:ext cx="201168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1413806" y="44130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413806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</a:t>
            </a:r>
            <a:r>
              <a:rPr lang="en-US" sz="80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Baselines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3562646" y="4343400"/>
            <a:ext cx="20116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562646" y="44130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14.75%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62646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Improvement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711486" y="4343400"/>
            <a:ext cx="201168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711486" y="44130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18.36%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1486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Improvement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(%) vs. Best Baseline — All 8 Designs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617750350"/>
              </p:ext>
            </p:extLst>
          </p:nvPr>
        </p:nvGraphicFramePr>
        <p:xfrm>
          <a:off x="457200" y="960120"/>
          <a:ext cx="8412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800600"/>
            <a:ext cx="8412480" cy="228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412480" cy="685800"/>
          </a:xfrm>
          <a:prstGeom prst="rect">
            <a:avLst/>
          </a:prstGeom>
          <a:solidFill>
            <a:srgbClr val="EFF8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8755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Consistent Comparison: Both SA-generated recipes AND all 3 ABC baselines are validated through the identical OpenROAD post-layout flow for power measurement.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1946" y="1856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878" y="1856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181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Generates Best Recipe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819656"/>
            <a:ext cx="5577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 from 80-step SA run (20 commands)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41448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4912" y="251460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946" y="2514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5765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Synthesis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478024"/>
            <a:ext cx="5577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recipe to initial AIG → optimized technology-independent Verilog netlist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9981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99816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946" y="317296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912" y="3172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348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Place &amp; Route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136392"/>
            <a:ext cx="5577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physical design: placement → CTS → routing using standard cell library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58184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946" y="383133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912" y="3831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8932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Power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3794760"/>
            <a:ext cx="5577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Post-layout power analysis — same flow for SA and baselines (syn, syn2, syn3)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41655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416552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1946" y="4489704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912" y="4489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5516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4453128"/>
            <a:ext cx="5577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power vs. best of {syn, syn2, syn3} — all measured identically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39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5372"/>
            <a:ext cx="8412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05372"/>
            <a:ext cx="64008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830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280860"/>
            <a:ext cx="78638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predictor identifies power-sensitive directions without expensive synthesis in the inner loop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explores non-intuitive command orderings missed by </a:t>
            </a: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human-engineered scripts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7840"/>
            <a:ext cx="8412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919042"/>
            <a:ext cx="64008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4846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267922"/>
            <a:ext cx="78638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designs evaluated; broader statistical coverage on 25 benchmarks still needed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runs only 80 steps; larger budgets may uncover further improvements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1887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Sequence-Aware Encoding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Hamming with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/ Transformer to encode full command sequence, enabling the predictor to learn syntactic and semantic patterns.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1188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(PPA)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cost function to jointly optimize Power, Performance (depth), and Area (nodes). Use Pareto-front SA to expose the full trade-off surface.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Benchmarks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 on all 25 benchmark designs and increase steps. Statistical analysis over larger design family will give stronger generalization evidence.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2608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5192" y="31089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657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 or domain adaptation to allow the predictor to quickly adapt to entirely new circuit families with minimal fine-tuning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119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b="1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patience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83210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CS533 · Machine Learning for EDA  ·  Power-Aware Recipe Synthesis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1098</Words>
  <Application>Microsoft Office PowerPoint</Application>
  <PresentationFormat>On-screen Show (16:9)</PresentationFormat>
  <Paragraphs>238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Power-Aware Recipe Synthesis</dc:title>
  <dc:subject>PptxGenJS Presentation</dc:subject>
  <dc:creator>PptxGenJS</dc:creator>
  <cp:lastModifiedBy>Daksh Agarwal</cp:lastModifiedBy>
  <cp:revision>20</cp:revision>
  <dcterms:created xsi:type="dcterms:W3CDTF">2026-04-28T07:15:05Z</dcterms:created>
  <dcterms:modified xsi:type="dcterms:W3CDTF">2026-04-29T12:27:34Z</dcterms:modified>
</cp:coreProperties>
</file>